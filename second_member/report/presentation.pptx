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/>
              <a:t>Гидратация глицина в переносчике GlyT1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/>
              <a:t>Распределение числа молекул воды и время корреляции водного окружения в разных областях положения глицина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5C73"/>
                </a:solidFill>
              </a:rPr>
              <a:t>Курсовая работа · черновик презентации · вариант участков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1.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Объект: переносчик глицина GlyT1 и молекулярная динамика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GlyT1 (SLC6A9) убирает глицин из внеклеточного пространства; перенос сопряжён с 2 Na⁺ и 1 Cl⁻.</a:t>
            </a:r>
          </a:p>
          <a:p>
            <a:pPr>
              <a:spcAft>
                <a:spcPts val="600"/>
              </a:spcAft>
            </a:pPr>
            <a:r>
              <a:rPr sz="1400" b="0"/>
              <a:t>Данные — молекулярная динамика (МД): расчёт движения всех атомов системы.</a:t>
            </a:r>
          </a:p>
          <a:p>
            <a:pPr>
              <a:spcAft>
                <a:spcPts val="600"/>
              </a:spcAft>
            </a:pPr>
            <a:r>
              <a:rPr sz="1400" b="0"/>
              <a:t>Модель: GlyT1 открыт наружу (PDB 8WFL), глицин и ионы из 8WFI, мембрана POPC, NaCl 150 мМ, вода TIP3P, 310 K, CHARMM36m.</a:t>
            </a:r>
          </a:p>
          <a:p>
            <a:pPr>
              <a:spcAft>
                <a:spcPts val="600"/>
              </a:spcAft>
            </a:pPr>
            <a:r>
              <a:rPr sz="1400" b="0"/>
              <a:t>Три независимых запуска (rep0, rep1, rep2) — одна система, разные случайные начальные скорости.</a:t>
            </a:r>
          </a:p>
          <a:p>
            <a:pPr>
              <a:spcAft>
                <a:spcPts val="600"/>
              </a:spcAft>
            </a:pPr>
            <a:r>
              <a:rPr sz="1400" b="0"/>
              <a:t>Справа — СХЕМА: глицин поставлен на ось внеклеточного вестибюля (HOLE) на расстоянии из rep2; реальное направление движения неизвестно. Белок уложен в мембрану по гомологу SERT (OPM 5I6X), внеклеточная сторона вверху, серые плоскости — границы мембраны.</a:t>
            </a:r>
          </a:p>
        </p:txBody>
      </p:sp>
      <p:pic>
        <p:nvPicPr>
          <p:cNvPr id="5" name="Picture 4" descr="glycine_path_rep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57300"/>
            <a:ext cx="53949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1.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Исследовательский вопрос и гипотезы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703320"/>
                <a:gridCol w="370332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Среднее n_gly_wat и cn_gly_wat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одинаково в сайте и на плато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Дисперсия n и 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одинакова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Распределение n_gly_wat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F_сайт = F_плато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Время корреляции τc (n и cn)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τ_сайт = τ_плато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различается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10642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Вопрос: различаются ли распределение числа молекул воды вокруг глицина и время его автокорреляции между разными областями положения глицина?</a:t>
            </a:r>
          </a:p>
          <a:p>
            <a:pPr>
              <a:spcAft>
                <a:spcPts val="600"/>
              </a:spcAft>
            </a:pPr>
            <a:r>
              <a:rPr sz="1400" b="0"/>
              <a:t>Гипотезы — по каждому показателю отдельно: общая «всё одинаково» составная, отвергнуть одну часть ≠ отвергнуть всё.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2. 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Исходный файл и переменные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67512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Столбец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Что это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Единицы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rep,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номер запуска МД; номер кадра (подряд с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t_ns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время = frame × 0,05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n_gly_wat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число молекул воды рядом с глицином (целый счётчик)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1–14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cn_gly_wat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координационное число воды: «сглаженный» счётчик, вклад каждой молекулы от 1 до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1,5–13,1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dist_ca_gly_com_bs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расстояние Cα глицина → центр масс сайта связывания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Å, 0,08–33,2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sasa_gly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площадь поверхности глицина, доступная воде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0–223 (≈Å²)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64240" cy="2560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CSV: 33 531 кадр × 1344 столбца; в задании используются эти. Шаг между кадрами 0,05 нс = 20 кадров/нс.</a:t>
            </a:r>
          </a:p>
          <a:p>
            <a:pPr>
              <a:spcAft>
                <a:spcPts val="600"/>
              </a:spcAft>
            </a:pPr>
            <a:r>
              <a:rPr sz="1400" b="0"/>
              <a:t>Ориентиры задания: 15–20 Å — воронка, &gt; 30 Å — выход. Центр сайта проверен: остатки CSV +43 = остатки 8WFL (TRP279 → W322, THR375 → T418); глицин из 8WFI в 2,3 Å от центра.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2. 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Основная rep2 и контрольная rep0: чем отличаются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60520"/>
                <a:gridCol w="4160520"/>
              </a:tblGrid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rep2 (основная)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rep0 (контрольная)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Длина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18 323 кадра, 916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8 498 кадров, 425 нс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В сайте (&lt; 5 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0–262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0–416 нс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Остановка около 8 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долгая: 265–900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короткая: ~7 нс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Выход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900–916 нс, до 33 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423–425 нс, до 30 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10642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Главное: в rep2 есть длинное плато у 8 Å, в rep0 глицин проходит эту область за несколько нс → контроль возможен только в укороченном виде.</a:t>
            </a:r>
          </a:p>
          <a:p>
            <a:pPr>
              <a:spcAft>
                <a:spcPts val="600"/>
              </a:spcAft>
            </a:pPr>
            <a:r>
              <a:rPr sz="1400" b="0"/>
              <a:t>rep1 по заданию не используется (основная траектория другой темы).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2. 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rep2: расстояние во времени и гистограмма</a:t>
            </a:r>
          </a:p>
        </p:txBody>
      </p:sp>
      <p:pic>
        <p:nvPicPr>
          <p:cNvPr id="4" name="Picture 3" descr="s2_dist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749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Гистограмма двугорбая: 0–4 Å (сайт) и 6–10 Å (плато); у 5 Å почти пусто — естественная граница.</a:t>
            </a:r>
          </a:p>
          <a:p>
            <a:pPr>
              <a:spcAft>
                <a:spcPts val="600"/>
              </a:spcAft>
            </a:pPr>
            <a:r>
              <a:rPr sz="1400" b="0"/>
              <a:t>Воронка 15–20 Å — всего 149 кадров (7 нс): для ACF мало → сравниваем две области.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2. 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rep0: расстояние во времени и гистограмма</a:t>
            </a:r>
          </a:p>
        </p:txBody>
      </p:sp>
      <p:pic>
        <p:nvPicPr>
          <p:cNvPr id="4" name="Picture 3" descr="s2_dist_r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749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Почти всё время глицин в сайте (~1 Å); уход и выход — в последние ~9 нс.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2. 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Этап 1. Контроль качества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Код участника 1 (first_member/main.py) без изменений; подменена только запись в Excel (xlwings → pandas).</a:t>
            </a:r>
          </a:p>
          <a:p>
            <a:pPr>
              <a:spcAft>
                <a:spcPts val="600"/>
              </a:spcAft>
            </a:pPr>
            <a:r>
              <a:rPr sz="1600" b="0"/>
              <a:t>rep0 — 8 498 кадров, rep1 — 6 710, rep2 — 18 323; порядок rep, frame верный; дубликатов и пропусков нет.</a:t>
            </a:r>
          </a:p>
          <a:p>
            <a:pPr>
              <a:spcAft>
                <a:spcPts val="600"/>
              </a:spcAft>
            </a:pPr>
            <a:r>
              <a:rPr sz="1600" b="0"/>
              <a:t>n_gly_wat, cn_gly_wat, dist, sasa: нет пропусков, нечисловых, бесконечных и отрицательных; n целый.</a:t>
            </a:r>
          </a:p>
          <a:p>
            <a:pPr>
              <a:spcAft>
                <a:spcPts val="600"/>
              </a:spcAft>
            </a:pPr>
            <a:r>
              <a:rPr sz="1600" b="0"/>
              <a:t>Рабочая таблица: rep0 + rep2, 26 821 строка, 7 столбцов, t_ns = frame × 0,05.</a:t>
            </a:r>
          </a:p>
          <a:p>
            <a:pPr>
              <a:spcAft>
                <a:spcPts val="600"/>
              </a:spcAft>
            </a:pPr>
            <a:r>
              <a:rPr sz="1600" b="0"/>
              <a:t>Ограничение: радиус подсчёта воды, формула cn и единицы SASA в материалах не указаны.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3. МАТЕМАТИЧЕСКИЕ МЕТОДЫ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ACF и лаг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Вопрос: если сейчас воды больше обычного, будет ли её больше через τ?</a:t>
            </a:r>
          </a:p>
          <a:p>
            <a:pPr>
              <a:spcAft>
                <a:spcPts val="600"/>
              </a:spcAft>
            </a:pPr>
            <a:r>
              <a:rPr sz="1500" b="0"/>
              <a:t>Лаг k — сдвиг в кадрах (лаг 1 = 0,05 нс, лаг 20 = 1 нс).</a:t>
            </a:r>
          </a:p>
          <a:p>
            <a:pPr>
              <a:spcAft>
                <a:spcPts val="600"/>
              </a:spcAft>
            </a:pPr>
            <a:r>
              <a:rPr sz="1500" b="0"/>
              <a:t>ρ(k) = Σ (x_t − x̄)(x_{t+k} − x̄) / Σ (x_t − x̄)²   — нормированная ACF центрированного ряда.</a:t>
            </a:r>
          </a:p>
          <a:p>
            <a:pPr>
              <a:spcAft>
                <a:spcPts val="600"/>
              </a:spcAft>
            </a:pPr>
            <a:r>
              <a:rPr sz="1500" b="0"/>
              <a:t>x_t — n_gly_wat в кадре t, x̄ — среднее участка. Знаки отклонений совпадают через k → ρ большая; связь забыта → ρ ≈ 0; ρ(0) = 1.</a:t>
            </a:r>
          </a:p>
          <a:p>
            <a:pPr>
              <a:spcAft>
                <a:spcPts val="600"/>
              </a:spcAft>
            </a:pPr>
            <a:r>
              <a:rPr sz="1500" b="0"/>
              <a:t>Время корреляции τc = (первый лаг, где ρ &lt; 1/e ≈ 0,368) × 0,05 нс. Для ρ = e^(−τ/τc) при τ = τc ровно 1/e.</a:t>
            </a:r>
          </a:p>
          <a:p>
            <a:pPr>
              <a:spcAft>
                <a:spcPts val="600"/>
              </a:spcAft>
            </a:pPr>
            <a:r>
              <a:rPr sz="1500" b="0"/>
              <a:t>τc — не время жизни молекулы воды и не поток воды. Расчёт: statsmodels acf (сверено с ручным), лаги до N/4, только непрерывные отрезки.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3. МАТЕМАТИЧЕСКИЕ МЕТОДЫ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Тренд, стационарность, устойчивость оценки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Тренд — медленное сползание среднего уровня внутри участка. Он даёт ложный медленный хвост ACF и завышает τc.</a:t>
            </a:r>
          </a:p>
          <a:p>
            <a:pPr>
              <a:spcAft>
                <a:spcPts val="600"/>
              </a:spcAft>
            </a:pPr>
            <a:r>
              <a:rPr sz="1500" b="0"/>
              <a:t>Стационарность — среднее, разброс и характер колебаний одинаковы во всём участке; только тогда ACF(лаг) имеет смысл.</a:t>
            </a:r>
          </a:p>
          <a:p>
            <a:pPr>
              <a:spcAft>
                <a:spcPts val="600"/>
              </a:spcAft>
            </a:pPr>
            <a:r>
              <a:rPr sz="1500" b="0"/>
              <a:t>Проверки: (1) тренд за участок в SD; (2) KPSS — H0 «стационарен около среднего»; (3) ADF — H0 «случайное блуждание».</a:t>
            </a:r>
          </a:p>
          <a:p>
            <a:pPr>
              <a:spcAft>
                <a:spcPts val="600"/>
              </a:spcAft>
            </a:pPr>
            <a:r>
              <a:rPr sz="1500" b="0"/>
              <a:t>Правило (заранее): пригоден, если KPSS не отвергает и |тренд| &lt; 0,5 SD.</a:t>
            </a:r>
          </a:p>
          <a:p>
            <a:pPr>
              <a:spcAft>
                <a:spcPts val="600"/>
              </a:spcAft>
            </a:pPr>
            <a:r>
              <a:rPr sz="1500" b="0"/>
              <a:t>Устойчивость: пересечение ищем в каждой половине; расходятся &gt; 2 раз → «не оценивается» (число не ставим).</a:t>
            </a:r>
          </a:p>
          <a:p>
            <a:pPr>
              <a:spcAft>
                <a:spcPts val="600"/>
              </a:spcAft>
            </a:pPr>
            <a:r>
              <a:rPr sz="1500" b="0"/>
              <a:t>Короткие окна занижают τc: вычитание среднего окна «съедает» медленные колебания (проверено на синтетике).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3. МАТЕМАТИЧЕСКИЕ МЕТОДЫ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Блочный бутстрэп и блочная перестановка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Бутстрэп: много раз пересобираем данные случайным выбором с возвращением и смотрим разброс статистики → ДИ.</a:t>
            </a:r>
          </a:p>
          <a:p>
            <a:pPr>
              <a:spcAft>
                <a:spcPts val="600"/>
              </a:spcAft>
            </a:pPr>
            <a:r>
              <a:rPr sz="1500" b="0"/>
              <a:t>Соседние кадры зависимы → выбираем не кадры, а блоки подряд идущих кадров (внутри блока зависимость сохраняется).</a:t>
            </a:r>
          </a:p>
          <a:p>
            <a:pPr>
              <a:spcAft>
                <a:spcPts val="600"/>
              </a:spcAft>
            </a:pPr>
            <a:r>
              <a:rPr sz="1500" b="0"/>
              <a:t>Скользящие блоки без склейки конца с началом (arch MovingBlockBootstrap); длина блока — Политис–Уайт по ACF: rep2 182 кадра = 9,1 нс (≫ τc); чувствительность ×0,5 / ×2 / ×4; &lt; 10 блоков на участок → вывод не делаем.</a:t>
            </a:r>
          </a:p>
          <a:p>
            <a:pPr>
              <a:spcAft>
                <a:spcPts val="600"/>
              </a:spcAft>
            </a:pPr>
            <a:r>
              <a:rPr sz="1500" b="0"/>
              <a:t>2000 повторов; 95% ДИ разности «плато − сайт»; если 0 вне ДИ при всех длинах блока — различие.</a:t>
            </a:r>
          </a:p>
          <a:p>
            <a:pPr>
              <a:spcAft>
                <a:spcPts val="600"/>
              </a:spcAft>
            </a:pPr>
            <a:r>
              <a:rPr sz="1500" b="0"/>
              <a:t>Номинальный p разности: p = 2·min(#{d* ≤ 0}+1, #{d* ≥ 0}+1)/2001 — согласован с перцентильным ДИ; предел разрешения ≈ 0,001.</a:t>
            </a:r>
          </a:p>
          <a:p>
            <a:pPr>
              <a:spcAft>
                <a:spcPts val="600"/>
              </a:spcAft>
            </a:pPr>
            <a:r>
              <a:rPr sz="1500" b="0"/>
              <a:t>Распределения: TVD = ½ Σ |p_сайт(k) − p_плато(k)|; блочная перестановка блоков между участками → p.</a:t>
            </a:r>
          </a:p>
          <a:p>
            <a:pPr>
              <a:spcAft>
                <a:spcPts val="600"/>
              </a:spcAft>
            </a:pPr>
            <a:r>
              <a:rPr sz="1500" b="0"/>
              <a:t>Бутстрэп смещён (оценка вне ДИ) → «не разрешается».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ДОПОЛНИТЕЛЬНО (ЭТАП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Методы этапа 7: энтропия, спектр, Найквист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Энтропия Шеннона H = −Σ p_k log₂ p_k (бит): насколько трудно угадать число воды. Всегда 6 → H = 0; 4 равновероятных значения → 2 бита.</a:t>
            </a:r>
          </a:p>
          <a:p>
            <a:pPr>
              <a:spcAft>
                <a:spcPts val="600"/>
              </a:spcAft>
            </a:pPr>
            <a:r>
              <a:rPr sz="1500" b="0"/>
              <a:t>Спектральная плотность мощности (PSD): какая доля дисперсии приходится на каждую частоту колебаний; площадь = дисперсия. PSD и ACF — одно и то же в разных координатах (Винер–Хинчин).</a:t>
            </a:r>
          </a:p>
          <a:p>
            <a:pPr>
              <a:spcAft>
                <a:spcPts val="600"/>
              </a:spcAft>
            </a:pPr>
            <a:r>
              <a:rPr sz="1500" b="0"/>
              <a:t>Частота дискретизации 20 отсчётов/нс; частота Найквиста = 10 циклов/нс — быстрее различить нельзя.</a:t>
            </a:r>
          </a:p>
          <a:p>
            <a:pPr>
              <a:spcAft>
                <a:spcPts val="600"/>
              </a:spcAft>
            </a:pPr>
            <a:r>
              <a:rPr sz="1500" b="0"/>
              <a:t>Уэлч: куски по 102 нс, перекрытие 50%, линейный тренд убран; нужен квазистационарный участок.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4. ХОД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Этап 2. Что значит «сопоставимые участки» и правило фаз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Сопоставимые = одно правило границ, заданное заранее по расстоянию; похожий режим (не смешивать с переходом); похожее положение относительно перехода; сравнимый объём данных.</a:t>
            </a:r>
          </a:p>
          <a:p>
            <a:pPr>
              <a:spcAft>
                <a:spcPts val="600"/>
              </a:spcAft>
            </a:pPr>
            <a:r>
              <a:rPr sz="1600" b="0"/>
              <a:t>Правило: медиана расстояния за 2 нс; уход из сайта — медиана &gt; 5 Å; начало выхода — последняя медиана ≤ 10 Å; вокруг переходов отрезаем по 2 нс.</a:t>
            </a:r>
          </a:p>
          <a:p>
            <a:pPr>
              <a:spcAft>
                <a:spcPts val="600"/>
              </a:spcAft>
            </a:pPr>
            <a:r>
              <a:rPr sz="1600" b="0"/>
              <a:t>rep2: уход 262,45 нс, выход 900,6 нс. rep0: уход 415,85 нс, выход 423,25 нс.</a:t>
            </a:r>
          </a:p>
          <a:p>
            <a:pPr>
              <a:spcAft>
                <a:spcPts val="600"/>
              </a:spcAft>
            </a:pPr>
            <a:r>
              <a:rPr sz="1600" b="0"/>
              <a:t>Границы зафиксированы до сравнения гидратации.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4. ХОД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Три варианта участков: A, B, C</a:t>
            </a:r>
          </a:p>
        </p:txBody>
      </p:sp>
      <p:pic>
        <p:nvPicPr>
          <p:cNvPr id="4" name="Picture 3" descr="s2_variants_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34440"/>
            <a:ext cx="57607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A — участник 1 (вручную). B — полные фазы. C — равные окна по правилу; в rep2 штриховкой окно 2 — только проверка.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4. ХОД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Варианты A, B, C: плюсы и минусы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937760"/>
              </a:tblGrid>
              <a:tr h="731520">
                <a:tc>
                  <a:txBody>
                    <a:bodyPr/>
                    <a:lstStyle/>
                    <a:p>
                      <a:r>
                        <a:rPr sz="1200"/>
                        <a:t>Вариант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Хорошо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Плохо / ограничения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/>
                        <a:t>A (участник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rep2: равные длины по обе стороны перехода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без правила; окно сайта rep0 — самое «сухое» из ~8 170 возможных → ложное «противоположное направление» (+1,29)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/>
                        <a:t>B (полные фазы)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все данные; правило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несопоставимо: 5 209 vs 12 682 (rep2), 8 277 vs 149 (rep0); плато смешивает режимы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/>
                        <a:t>C (итог)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одно правило, равные длины; rep2 ≈ выбор участника 1; rep0 — до/после перехода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окно 1 нестационарно; участок rep0 «после» включает сам переход; τc в rep0 не оценить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1064240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Окно 2 плато стационарно и даёт лучшую оценку τc, но выбрать его «потому что лучше» = подгонка → только проверка устойчивости.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4. ХОД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Почему вариант A вводит в заблуждение</a:t>
            </a:r>
          </a:p>
        </p:txBody>
      </p:sp>
      <p:pic>
        <p:nvPicPr>
          <p:cNvPr id="4" name="Picture 3" descr="s2_regions_A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234440"/>
            <a:ext cx="768096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Снизу — скользящее среднее числа воды. Окно сайта rep0 (синее) попало на самый минимум: среднее 4,38 при диапазоне окон 4,37–8,14.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4. ХОД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Итоговые участки (вариант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rep2: сайт 0–260 нс vs окно 1 плато 264,5–525 нс (по 5 209 кадров).</a:t>
            </a:r>
          </a:p>
          <a:p>
            <a:pPr>
              <a:spcAft>
                <a:spcPts val="600"/>
              </a:spcAft>
            </a:pPr>
            <a:r>
              <a:rPr sz="1400" b="0"/>
              <a:t>rep0: 406–414 нс перед уходом vs 416–423 нс остановки (по 149).</a:t>
            </a:r>
          </a:p>
          <a:p>
            <a:pPr>
              <a:spcAft>
                <a:spcPts val="600"/>
              </a:spcAft>
            </a:pPr>
            <a:r>
              <a:rPr sz="1400" b="0"/>
              <a:t>SASA: rep2 сайт 23,9 → плато 20,5; rep0 7,5 → 16,8.</a:t>
            </a:r>
          </a:p>
        </p:txBody>
      </p:sp>
      <p:pic>
        <p:nvPicPr>
          <p:cNvPr id="5" name="Picture 4" descr="s2_final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349" y="1234440"/>
            <a:ext cx="6924501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Этап 3. Средние и дисперсии (вариант 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Реализация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Область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n: среднее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n: дисперсия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cn: среднее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cn: дисперсия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r(n, cn)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сайт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0,78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плато (окно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0,91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перед уходом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0,87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остановка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0,77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10642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rep2: на плато воды на 0,76 меньше, разброс почти вдвое больше; cn — в ту же сторону.</a:t>
            </a:r>
          </a:p>
          <a:p>
            <a:pPr>
              <a:spcAft>
                <a:spcPts val="600"/>
              </a:spcAft>
            </a:pPr>
            <a:r>
              <a:rPr sz="1400" b="0"/>
              <a:t>Без вывода о значимости до этапа 5. n и cn сильно коррелируют — это не независимое подтверждение.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Распределение n_gly_wat, rep2</a:t>
            </a:r>
          </a:p>
        </p:txBody>
      </p:sp>
      <p:pic>
        <p:nvPicPr>
          <p:cNvPr id="4" name="Picture 3" descr="s3_water_dist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1234440"/>
            <a:ext cx="9217152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Мода 6 → 5; доля кадров с 3–4 молекулами 2,8% → 25%; с 6 молекулами 39% → 24%. Распределение на плато шире и сдвинуто вниз.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Связь n и cn, rep2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Каждая точка — кадр. Вертикальные столбики — целочисленность n.</a:t>
            </a:r>
          </a:p>
          <a:p>
            <a:pPr>
              <a:spcAft>
                <a:spcPts val="600"/>
              </a:spcAft>
            </a:pPr>
            <a:r>
              <a:rPr sz="1400" b="0"/>
              <a:t>Корреляция 0,78 (сайт) и 0,91 (плато).</a:t>
            </a:r>
          </a:p>
        </p:txBody>
      </p:sp>
      <p:pic>
        <p:nvPicPr>
          <p:cNvPr id="5" name="Picture 4" descr="s3_scatter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48876"/>
            <a:ext cx="7132320" cy="44118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Ящики с усами: n и cn по областям, rep2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Красная линия — медиана, зелёный крест — среднее. На плато ниже и шире оба показателя.</a:t>
            </a:r>
          </a:p>
        </p:txBody>
      </p:sp>
      <p:pic>
        <p:nvPicPr>
          <p:cNvPr id="5" name="Picture 4" descr="s3_box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53824"/>
            <a:ext cx="7132320" cy="32019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Этап 4. ACF n_gly_wat, rep2</a:t>
            </a:r>
          </a:p>
        </p:txBody>
      </p:sp>
      <p:pic>
        <p:nvPicPr>
          <p:cNvPr id="4" name="Picture 3" descr="s4_acf_n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234440"/>
            <a:ext cx="110947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Сайт: ACF за 1 кадр падает до 0,45 и полого идёт вдоль 1/e → половины 0,05 / 0,70 нс → не оценивается.</a:t>
            </a:r>
          </a:p>
          <a:p>
            <a:pPr>
              <a:spcAft>
                <a:spcPts val="600"/>
              </a:spcAft>
            </a:pPr>
            <a:r>
              <a:rPr sz="1400" b="0"/>
              <a:t>Плато: τc = 1,15 нс, условно (тренд −0,8 SD).</a:t>
            </a:r>
          </a:p>
          <a:p>
            <a:pPr>
              <a:spcAft>
                <a:spcPts val="600"/>
              </a:spcAft>
            </a:pPr>
            <a:r>
              <a:rPr sz="1400" b="0"/>
              <a:t>Пустая точка — отвергнутое пересечение, закрашенная — принятое.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ACF cn_gly_wat, rep2</a:t>
            </a:r>
          </a:p>
        </p:txBody>
      </p:sp>
      <p:pic>
        <p:nvPicPr>
          <p:cNvPr id="4" name="Picture 3" descr="s4_acf_cn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234440"/>
            <a:ext cx="110947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Сайт 2,80 нс (половины 0,90 / 2,05 — не оценивается); плато 1,40 нс (условно).</a:t>
            </a:r>
          </a:p>
          <a:p>
            <a:pPr>
              <a:spcAft>
                <a:spcPts val="600"/>
              </a:spcAft>
            </a:pPr>
            <a:r>
              <a:rPr sz="1400" b="0"/>
              <a:t>По n плато «медленнее» сайта, по cn — «быстрее»: показатели противоречат.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Этап 4. Тренд и время корреляции, rep2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1737360"/>
                <a:gridCol w="1554480"/>
                <a:gridCol w="1463040"/>
                <a:gridCol w="1097280"/>
                <a:gridCol w="1005840"/>
                <a:gridCol w="237744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Участок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Показ.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1-е пересечение,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Половины,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Без тренда,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Тренд, 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KPSS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Итог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сайт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0,05 / 0,70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&lt;0,01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не оценивается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сайт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0,90 / 2,05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+0,55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&lt;0,01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не оценивается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плато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1,15 / 0,70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−0,82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&lt;0,01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условно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плато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1,20 / 0,90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−0,87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&lt;0,01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условно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10642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Допущение работы: для rep2 τc сайта всё же берём по первому пересечению (0,35 / 2,80 нс) — с пометкой, что по правилу оно ненадёжно.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Проверка: окно 2 плато (стационарное)</a:t>
            </a:r>
          </a:p>
        </p:txBody>
      </p:sp>
      <p:pic>
        <p:nvPicPr>
          <p:cNvPr id="4" name="Picture 3" descr="s4_acf_n_rep2_window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234440"/>
            <a:ext cx="110947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Тренд −0,09 SD, KPSS p &gt; 0,1 → τc = 0,65 (n) и 0,70 нс (cn) — «надёжно».</a:t>
            </a:r>
          </a:p>
          <a:p>
            <a:pPr>
              <a:spcAft>
                <a:spcPts val="600"/>
              </a:spcAft>
            </a:pPr>
            <a:r>
              <a:rPr sz="1400" b="0"/>
              <a:t>Значит, в окне 1 часть τc давал тренд. Окно 2 — только проверка, не основной результат.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Этап 5. Разности «плато − сайт» с 95% ДИ (rep2)</a:t>
            </a:r>
          </a:p>
        </p:txBody>
      </p:sp>
      <p:pic>
        <p:nvPicPr>
          <p:cNvPr id="4" name="Picture 3" descr="s5_boot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234440"/>
            <a:ext cx="82296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Средние, дисперсии: 0 вне ДИ при всех длинах блока. τc: ДИ пересекает 0 или не содержит оценку → не разрешается.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Этап 5. Итог бутстрэпа, rep2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1097280"/>
                <a:gridCol w="2103120"/>
                <a:gridCol w="109728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Сайт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Плато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95% ДИ (блок 9,1 нс)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 номин.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Итог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среднее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−0,76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[−1,13; −0,45]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различие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дисперсия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[0,62; 1,47]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различие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среднее 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−0,44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[−0,76; −0,14]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различие (пограничное*)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дисперсия 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+0,80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[0,45; 1,07]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различие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TVD распределений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различие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τc n,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0,35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+0,80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[0,00; 1,00]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не разрешается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τc cn, 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−1,40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[−1,45; 0,75]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не разрешается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1064240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Номинальные p (TVD — перестановки) слишком оптимистичны; * по суррогатной модели — см. следующий слайд.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Почему бутстрэп не решает вопрос о τc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ACF у порога 1/e почти плоская: −0,04 по ACF → τc сайта (cn) с 2,8 до ~1,5 нс.</a:t>
            </a:r>
          </a:p>
          <a:p>
            <a:pPr>
              <a:spcAft>
                <a:spcPts val="600"/>
              </a:spcAft>
            </a:pPr>
            <a:r>
              <a:rPr sz="1400" b="0"/>
              <a:t>На стыках блоков связь рвётся → хвост ACF ниже → пересечение раньше: в повторах ~1,3 нс вместо 2,8.</a:t>
            </a:r>
          </a:p>
          <a:p>
            <a:pPr>
              <a:spcAft>
                <a:spcPts val="600"/>
              </a:spcAft>
            </a:pPr>
            <a:r>
              <a:rPr sz="1400" b="0"/>
              <a:t>Длиннее блоки — меньше смещение, но ДИ разваливается ([−6,6; 0,95] нс).</a:t>
            </a:r>
          </a:p>
        </p:txBody>
      </p:sp>
      <p:pic>
        <p:nvPicPr>
          <p:cNvPr id="5" name="Picture 4" descr="s5_boot_tau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766060"/>
            <a:ext cx="71323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5.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Проверка самого бутстрэпа суррогатами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Суррогаты: ряды с тем же спектром и распределением, но H0 заведомо верна.</a:t>
            </a:r>
          </a:p>
          <a:p>
            <a:pPr>
              <a:spcAft>
                <a:spcPts val="600"/>
              </a:spcAft>
            </a:pPr>
            <a:r>
              <a:rPr sz="1500" b="0"/>
              <a:t>У гидратации есть колебания длиннее блока (~15% дисперсии на масштабах &gt; 100 нс) → бутстрэп занижает неопределённость средних в ~1,6–1,8 раза; перестановка отвергает верную H0 в 43–71% вместо 5%.</a:t>
            </a:r>
          </a:p>
          <a:p>
            <a:pPr>
              <a:spcAft>
                <a:spcPts val="600"/>
              </a:spcAft>
            </a:pPr>
            <a:r>
              <a:rPr sz="1500" b="0"/>
              <a:t>Оценка p по суррогатной модели (отдельный, модельно-зависимый анализ): среднее n (−0,76) — остаётся (z ≈ −2,6, p ≈ 0,009); TVD 0,28 — остаётся (0 из 300 суррогатов ≥ 0,285, p ≈ 0,003, верхняя граница ≈ 0,01); среднее cn (−0,44) — пограничное (z ≈ −1,9, p ≈ 0,06).</a:t>
            </a:r>
          </a:p>
          <a:p>
            <a:pPr>
              <a:spcAft>
                <a:spcPts val="600"/>
              </a:spcAft>
            </a:pPr>
            <a:r>
              <a:rPr sz="1500" b="0"/>
              <a:t>Несколько статистик и длин блока — анализ чувствительности, поправки на множественность нет.</a:t>
            </a:r>
          </a:p>
          <a:p>
            <a:pPr>
              <a:spcAft>
                <a:spcPts val="600"/>
              </a:spcAft>
            </a:pPr>
            <a:r>
              <a:rPr sz="1500" b="0"/>
              <a:t>Окно 2 (проверка): средние n −1,27, cn −0,94, TVD 0,43 — направление то же.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ДОПОЛНИТЕЛЬНО (ЭТАП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Энтропия Шеннона n_gly_wat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rep2: сайт 2,14 → плато 2,62 бит (+0,49 [0,30; 0,64], номинальный p ≤ 0,001).</a:t>
            </a:r>
          </a:p>
          <a:p>
            <a:pPr>
              <a:spcAft>
                <a:spcPts val="600"/>
              </a:spcAft>
            </a:pPr>
            <a:r>
              <a:rPr sz="1400" b="0"/>
              <a:t>rep0: 2,32 → 1,80 (7 блоков — не оценивается).</a:t>
            </a:r>
          </a:p>
          <a:p>
            <a:pPr>
              <a:spcAft>
                <a:spcPts val="600"/>
              </a:spcAft>
            </a:pPr>
            <a:r>
              <a:rPr sz="1400" b="0"/>
              <a:t>Растёт с длиной окна: в основном из-за медленных колебаний, а не из-за смещения оценки (проверено перемешиванием). Сравнивать можно только участки одной длины.</a:t>
            </a:r>
          </a:p>
        </p:txBody>
      </p:sp>
      <p:pic>
        <p:nvPicPr>
          <p:cNvPr id="5" name="Picture 4" descr="s7_entropy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73580"/>
            <a:ext cx="7132320" cy="39623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ДОПОЛНИТЕЛЬНО (ЭТАП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Спектральная плотность мощности n_gly_wat, rep2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Узкого пика нет → признаков периодичности нет.</a:t>
            </a:r>
          </a:p>
          <a:p>
            <a:pPr>
              <a:spcAft>
                <a:spcPts val="600"/>
              </a:spcAft>
            </a:pPr>
            <a:r>
              <a:rPr sz="1400" b="0"/>
              <a:t>Плоский «пол» ~0,06 выше ~2 циклов/нс = быстрая составляющая из спада ACF на 1-м лаге (прогноз 0,064).</a:t>
            </a:r>
          </a:p>
          <a:p>
            <a:pPr>
              <a:spcAft>
                <a:spcPts val="600"/>
              </a:spcAft>
            </a:pPr>
            <a:r>
              <a:rPr sz="1400" b="0"/>
              <a:t>На плато больше мощности на низких частотах — согласуется с большей дисперсией.</a:t>
            </a:r>
          </a:p>
          <a:p>
            <a:pPr>
              <a:spcAft>
                <a:spcPts val="600"/>
              </a:spcAft>
            </a:pPr>
            <a:r>
              <a:rPr sz="1400" b="0"/>
              <a:t>Всего 4 куска Уэлча: точки шумные (±40%).</a:t>
            </a:r>
          </a:p>
        </p:txBody>
      </p:sp>
      <p:pic>
        <p:nvPicPr>
          <p:cNvPr id="5" name="Picture 4" descr="s7_psd_r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93392"/>
            <a:ext cx="7132320" cy="39227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6. ПРОВЕРКА НА КОНТРОЛЬНОЙ ТРАЕКТОРИИ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rep0: распределения n_gly_wat</a:t>
            </a:r>
          </a:p>
        </p:txBody>
      </p:sp>
      <p:pic>
        <p:nvPicPr>
          <p:cNvPr id="4" name="Picture 3" descr="s3_water_dist_r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1234440"/>
            <a:ext cx="9217152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Среднее n почти не меняется (5,87 → 5,72), распределение на остановке уже; cn растёт 5,28 → 5,80.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6. ПРОВЕРКА НА КОНТРОЛЬНОЙ ТРАЕКТОРИИ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rep0: ACF n_gly_wat</a:t>
            </a:r>
          </a:p>
        </p:txBody>
      </p:sp>
      <p:pic>
        <p:nvPicPr>
          <p:cNvPr id="4" name="Picture 3" descr="s6_acf_n_r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234440"/>
            <a:ext cx="110947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149 кадров (7,4 нс): пересечение на 1-м лаге или половины расходятся → τc не оценивается.</a:t>
            </a:r>
          </a:p>
          <a:p>
            <a:pPr>
              <a:spcAft>
                <a:spcPts val="600"/>
              </a:spcAft>
            </a:pPr>
            <a:r>
              <a:rPr sz="1400" b="0"/>
              <a:t>На полной фазе сайта rep0 τc ≈ 1,25 нс — короткое окно занижает.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6. ПРОВЕРКА НА КОНТРОЛЬНОЙ ТРАЕКТОРИИ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rep0: разности с ДИ</a:t>
            </a:r>
          </a:p>
        </p:txBody>
      </p:sp>
      <p:pic>
        <p:nvPicPr>
          <p:cNvPr id="4" name="Picture 3" descr="s6_boot_r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234440"/>
            <a:ext cx="82296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Блок по Политису–Уайту 19 кадров → 7 блоков на участок → вывод не делаем.</a:t>
            </a:r>
          </a:p>
          <a:p>
            <a:pPr>
              <a:spcAft>
                <a:spcPts val="600"/>
              </a:spcAft>
            </a:pPr>
            <a:r>
              <a:rPr sz="1400" b="0"/>
              <a:t>Номинальные p (не интерпретировать): среднее n 0,66; среднее cn 0,076; дисперсии n 0,011 и cn 0,003; TVD 0,12.</a:t>
            </a:r>
          </a:p>
          <a:p>
            <a:pPr>
              <a:spcAft>
                <a:spcPts val="600"/>
              </a:spcAft>
            </a:pPr>
            <a:r>
              <a:rPr sz="1400" b="0"/>
              <a:t>«Различия» видны только при укороченном вдвое блоке — наименее осторожная длина.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6. ПРОВЕРКА НА КОНТРОЛЬНОЙ ТРАЕКТОРИИ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Сводка: rep2 против rep0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77639"/>
                <a:gridCol w="3977639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Вопрос задания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1. Различие средних и распределений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воды меньше на плато (−0,76), распределение шире; устойчиво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 почти без разницы (−0,15), cn +0,52; статистически не разрешается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2. Изменение τc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не установлено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не оценивается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3. Согласованность n и 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одно 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направления расходятся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26080"/>
            <a:ext cx="1106424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Эффект rep2 в контроле не подтверждён и не опровергнут: в rep0 нет длинного плато у 8 Å (остановка ~7 нс и включает переход).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7. ОБСУЖДЕНИЕ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Сайт — не одно состояние</a:t>
            </a:r>
          </a:p>
        </p:txBody>
      </p:sp>
      <p:pic>
        <p:nvPicPr>
          <p:cNvPr id="4" name="Picture 3" descr="disc_hydration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310" y="1234440"/>
            <a:ext cx="72009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Реплики совмещены по моменту ухода из сайта. В rep2 и rep1 за 100–150 нс до ухода глицин смещается внутри сайта (~1 → ~2 Å) и воды становится больше (rep2 5,89 → 6,63; rep1 5,34 → 7,25); в rep0 — нет.</a:t>
            </a:r>
          </a:p>
          <a:p>
            <a:pPr>
              <a:spcAft>
                <a:spcPts val="600"/>
              </a:spcAft>
            </a:pPr>
            <a:r>
              <a:rPr sz="1400" b="0"/>
              <a:t>Это объясняет тренд у сайта и неустойчивость τc. Описание по 3 репликам, не причинность.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7. ОБСУЖДЕНИЕ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/>
              <a:t>Участки нестационарны (тренды до 0,9 SD) → стационарный бутстрэп формально не обоснован; ДИ — с оговоркой.</a:t>
            </a:r>
          </a:p>
          <a:p>
            <a:pPr>
              <a:spcAft>
                <a:spcPts val="600"/>
              </a:spcAft>
            </a:pPr>
            <a:r>
              <a:rPr sz="1500" b="0"/>
              <a:t>Медленные колебания длиннее блока → неопределённость занижена; учтено суррогатами.</a:t>
            </a:r>
          </a:p>
          <a:p>
            <a:pPr>
              <a:spcAft>
                <a:spcPts val="600"/>
              </a:spcAft>
            </a:pPr>
            <a:r>
              <a:rPr sz="1500" b="0"/>
              <a:t>τc по первому пересечению 1/e плохо обусловлен при пологой ACF; бутстрэп для τc смещён.</a:t>
            </a:r>
          </a:p>
          <a:p>
            <a:pPr>
              <a:spcAft>
                <a:spcPts val="600"/>
              </a:spcAft>
            </a:pPr>
            <a:r>
              <a:rPr sz="1500" b="0"/>
              <a:t>rep0: 149 кадров на участок, участок «после» включает переход.</a:t>
            </a:r>
          </a:p>
          <a:p>
            <a:pPr>
              <a:spcAft>
                <a:spcPts val="600"/>
              </a:spcAft>
            </a:pPr>
            <a:r>
              <a:rPr sz="1500" b="0"/>
              <a:t>Неизвестны радиус подсчёта воды и формула cn → физическая интерпретация ограничена.</a:t>
            </a:r>
          </a:p>
          <a:p>
            <a:pPr>
              <a:spcAft>
                <a:spcPts val="600"/>
              </a:spcAft>
            </a:pPr>
            <a:r>
              <a:rPr sz="1500" b="0"/>
              <a:t>Знак эффекта в контроле зависел от выбора окна (A +1,29; B +0,18; C −0,15) → правило выбора зафиксировано заранее.</a:t>
            </a:r>
          </a:p>
          <a:p>
            <a:pPr>
              <a:spcAft>
                <a:spcPts val="600"/>
              </a:spcAft>
            </a:pPr>
            <a:r>
              <a:rPr sz="1500" b="0"/>
              <a:t>Число воды ≠ поток воды; τc счётчика ≠ время жизни молекулы; различия реплик ≠ эффект положения глицина.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8. 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1. Распределение числа молекул воды различается: в rep2 на плато у 8 Å воды на 0,76 меньше (ДИ [−1,13; −0,45]), разброс вдвое больше, распределение шире (TVD 0,28), энтропия выше на ~0,5 бит. Устойчиво к длине блока и суррогатам; для cn — пограничнее.</a:t>
            </a:r>
          </a:p>
          <a:p>
            <a:pPr>
              <a:spcAft>
                <a:spcPts val="600"/>
              </a:spcAft>
            </a:pPr>
            <a:r>
              <a:rPr sz="1600" b="0"/>
              <a:t>2. Различие времени корреляции не установлено: плато τc ≈ 1,15 (n) / 1,40 нс (cn) условно; в сайте оценка неустойчива; бутстрэп смещён.</a:t>
            </a:r>
          </a:p>
          <a:p>
            <a:pPr>
              <a:spcAft>
                <a:spcPts val="600"/>
              </a:spcAft>
            </a:pPr>
            <a:r>
              <a:rPr sz="1600" b="0"/>
              <a:t>3. Контроль rep0 эффект не подтвердил и не опроверг: сопоставимой длинной области у 8 Å в rep0 нет.</a:t>
            </a:r>
          </a:p>
          <a:p>
            <a:pPr>
              <a:spcAft>
                <a:spcPts val="600"/>
              </a:spcAft>
            </a:pPr>
            <a:r>
              <a:rPr sz="1600" b="0"/>
              <a:t>4. Отрицательный и неоднозначный результат допустим: анализ показывает, где данные позволяют вывод, а где нет.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F5C73"/>
                </a:solidFill>
              </a:rPr>
              <a:t>8. 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/>
              <a:t>Воспроизведение и 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/>
              <a:t>Код: first_member/main.py (этапы 1–3), second_member/*.py (этапы 2–7, графики, GIF); границы участков — second_member/segments.py.</a:t>
            </a:r>
          </a:p>
          <a:p>
            <a:pPr>
              <a:spcAft>
                <a:spcPts val="600"/>
              </a:spcAft>
            </a:pPr>
            <a:r>
              <a:rPr sz="1400" b="0"/>
              <a:t>Отчёт: second_member/report/report.pdf; проверки программ — second_member/checks/.</a:t>
            </a:r>
          </a:p>
          <a:p>
            <a:pPr>
              <a:spcAft>
                <a:spcPts val="600"/>
              </a:spcAft>
            </a:pPr>
            <a:r>
              <a:rPr sz="1400" b="0"/>
              <a:t>Wei Y. et al. Transport mechanism and pharmacology of the human GlyT1. Cell 2024, 187, 1719–1732 (структуры 8WFL, 8WFI).</a:t>
            </a:r>
          </a:p>
          <a:p>
            <a:pPr>
              <a:spcAft>
                <a:spcPts val="600"/>
              </a:spcAft>
            </a:pPr>
            <a:r>
              <a:rPr sz="1400" b="0"/>
              <a:t>Karpycheva S. A., Ivontsin L. A., Mashkovtseva E. V., Nartsissov Y. R. Molecular Modeling of Glycine and Ions Binding to the GlyT1 Transporter. JISEES 2025.</a:t>
            </a:r>
          </a:p>
          <a:p>
            <a:pPr>
              <a:spcAft>
                <a:spcPts val="600"/>
              </a:spcAft>
            </a:pPr>
            <a:r>
              <a:rPr sz="1400" b="0"/>
              <a:t>Politis D. N., White H. Automatic block-length selection for the dependent bootstrap. Econometric Reviews 2004.</a:t>
            </a:r>
          </a:p>
          <a:p>
            <a:pPr>
              <a:spcAft>
                <a:spcPts val="600"/>
              </a:spcAft>
            </a:pPr>
            <a:r>
              <a:rPr sz="1400" b="0"/>
              <a:t>Kwiatkowski D. et al. (KPSS) 1992; Dickey D. A., Fuller W. A. (ADF) 1979; Welch P. 1967; Smart O. S. et al. HOLE 1996.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